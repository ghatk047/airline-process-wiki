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Airlines Process Wiki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DD8E6"/>
                </a:solidFill>
              </a:rPr>
              <a:t>L1 → L2 → L3 → L4 Business Process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A4AE"/>
                </a:solidFill>
              </a:rPr>
              <a:t>151 subprocesses  ·  7 L1 domains  ·  BPMN process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SAP Consulting · Airlines Vertical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Network Planning &amp;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60 subprocesses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Seasonal Schedule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13369"/>
            <a:ext cx="12006072" cy="1053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Fleet Assignment &amp; Tail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78688"/>
            <a:ext cx="12006072" cy="1122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Route Profitability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6331"/>
            <a:ext cx="12006072" cy="807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Slot Coordination &amp;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57988"/>
            <a:ext cx="12006072" cy="1563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Codeshare &amp; Interline Schedule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66968"/>
            <a:ext cx="12006072" cy="945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Schedule Change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35439"/>
            <a:ext cx="12006072" cy="1008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Capacity Planning &amp; Utilization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77796"/>
            <a:ext cx="12006072" cy="1324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New Market Entry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89929"/>
            <a:ext cx="12006072" cy="6999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Alliance &amp; Partnership Network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55726"/>
            <a:ext cx="12006072" cy="13683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SSIM File Management &amp;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71491"/>
            <a:ext cx="12006072" cy="13368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Schedule Publication &amp; GDS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781428"/>
            <a:ext cx="12006072" cy="19169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Irregular Operations Recovery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52986"/>
            <a:ext cx="12006072" cy="5738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Charter &amp; Ad-Hoc Flight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99388"/>
            <a:ext cx="12006072" cy="6810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Competition &amp; Capacity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77796"/>
            <a:ext cx="12006072" cy="13241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NP-SP-15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Strategic Network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Schedule Planning</a:t>
            </a:r>
          </a:p>
        </p:txBody>
      </p:sp>
      <p:pic>
        <p:nvPicPr>
          <p:cNvPr id="9" name="Picture 8" descr="np-s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3178"/>
            <a:ext cx="12006072" cy="8134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Inventory &amp; Yield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11108"/>
            <a:ext cx="12006072" cy="8575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Fare Class &amp; Bucket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22828"/>
            <a:ext cx="12006072" cy="10341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Overbooking Policy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806651"/>
            <a:ext cx="12006072" cy="18664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Demand Forecasting &amp;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27351"/>
            <a:ext cx="12006072" cy="14250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Group Sales Revenue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93561"/>
            <a:ext cx="12006072" cy="12926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Upgrade &amp; Upsell Revenue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866555"/>
            <a:ext cx="12006072" cy="17466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Ancillary Revenue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3273"/>
            <a:ext cx="12006072" cy="9332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RM System Calibration &amp;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3273"/>
            <a:ext cx="12006072" cy="9332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Post-Departure Revenue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9579"/>
            <a:ext cx="12006072" cy="9206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Competitive Fare Monitoring &amp;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0121"/>
            <a:ext cx="12006072" cy="939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Corporate &amp; Negotiated Rate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48942"/>
            <a:ext cx="12006072" cy="7819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Real-Time Availability &amp; Seat Inventory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11108"/>
            <a:ext cx="12006072" cy="8575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Revenue Integrity &amp; Ticketing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25981"/>
            <a:ext cx="12006072" cy="10278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O&amp;D Revenue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19675"/>
            <a:ext cx="12006072" cy="104044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NP-RM-15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LCC Competitive Pricing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Revenue Management</a:t>
            </a:r>
          </a:p>
        </p:txBody>
      </p:sp>
      <p:pic>
        <p:nvPicPr>
          <p:cNvPr id="9" name="Picture 8" descr="np-rm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671078"/>
            <a:ext cx="12006072" cy="21376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Fare Construction &amp; 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66968"/>
            <a:ext cx="12006072" cy="9458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Fare Distribution &amp; Publishing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53465"/>
            <a:ext cx="12006072" cy="11728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Promotional Fare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26872"/>
            <a:ext cx="12006072" cy="8260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Fare Rules &amp; Restriction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43115"/>
            <a:ext cx="12006072" cy="139356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Dynamic Pricing Engine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756205"/>
            <a:ext cx="12006072" cy="196738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Surcharge &amp; Tax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0121"/>
            <a:ext cx="12006072" cy="9395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Interline &amp; Codeshare Fare Proration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29612"/>
            <a:ext cx="12006072" cy="162056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ATPCO Filing &amp;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62032"/>
            <a:ext cx="12006072" cy="135572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Currency &amp; FX Rate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11999"/>
            <a:ext cx="12006072" cy="65579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Fare Audit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35439"/>
            <a:ext cx="12006072" cy="100891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Ancillary Pricing (Bags, Seats, Meals)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14261"/>
            <a:ext cx="12006072" cy="85127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Corporate Contract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91299"/>
            <a:ext cx="12006072" cy="109719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Competitive Fare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72382"/>
            <a:ext cx="12006072" cy="113502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Bundled Fare Product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92191"/>
            <a:ext cx="12006072" cy="89541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NP-PF-15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Low Fare Guarantee Program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Pricing &amp; Fare Management</a:t>
            </a:r>
          </a:p>
        </p:txBody>
      </p:sp>
      <p:pic>
        <p:nvPicPr>
          <p:cNvPr id="9" name="Picture 8" descr="np-pf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67447"/>
            <a:ext cx="12006072" cy="154489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GDS Channel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10216"/>
            <a:ext cx="12006072" cy="105935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Direct Channel Management (Web &amp; App)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13369"/>
            <a:ext cx="12006072" cy="105305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Travel Agency &amp; TMC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60662"/>
            <a:ext cx="12006072" cy="95846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Corporate Account Sales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06172"/>
            <a:ext cx="12006072" cy="126744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NDC Content &amp; API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15631"/>
            <a:ext cx="12006072" cy="124853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Group Sales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25981"/>
            <a:ext cx="12006072" cy="102783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Charter Sales &amp; Contract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05693"/>
            <a:ext cx="12006072" cy="6684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Commission &amp; Incentive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52095"/>
            <a:ext cx="12006072" cy="77560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Interline &amp; Codeshare Ticketing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80471"/>
            <a:ext cx="12006072" cy="7188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BSP Settlement &amp; IATA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11999"/>
            <a:ext cx="12006072" cy="65579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Online Travel Agency (OTA)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54356"/>
            <a:ext cx="12006072" cy="97107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Metasearch &amp; Comparison Site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34548"/>
            <a:ext cx="12006072" cy="121069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Sales Performance Reporting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86776"/>
            <a:ext cx="12006072" cy="70623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Distribution Cost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3178"/>
            <a:ext cx="12006072" cy="81343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NP-SD-15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Sales Force Automation &amp;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Network Planning &amp; Scheduling  ›  Sales &amp; Distribution</a:t>
            </a:r>
          </a:p>
        </p:txBody>
      </p:sp>
      <p:pic>
        <p:nvPicPr>
          <p:cNvPr id="9" name="Picture 8" descr="np-sd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3273"/>
            <a:ext cx="12006072" cy="93324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Customer Experience &amp; Loyalty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16 subprocesses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Frequent Flyer Program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Loyalty Programme Management</a:t>
            </a:r>
          </a:p>
        </p:txBody>
      </p:sp>
      <p:pic>
        <p:nvPicPr>
          <p:cNvPr id="9" name="Picture 8" descr="cx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87668"/>
            <a:ext cx="12006072" cy="504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Miles &amp; Points Accrual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Loyalty Programme Management</a:t>
            </a:r>
          </a:p>
        </p:txBody>
      </p:sp>
      <p:pic>
        <p:nvPicPr>
          <p:cNvPr id="9" name="Picture 8" descr="cx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68338"/>
            <a:ext cx="12006072" cy="134311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Miles &amp; Points Redemption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Loyalty Programme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713232"/>
            <a:ext cx="12006072" cy="6053328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BPMN diagram not yet generated
cx-03.png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Tier Status &amp; Upgrade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74165"/>
            <a:ext cx="12006072" cy="73146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Customer Complaint &amp; Feedback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47159"/>
            <a:ext cx="12006072" cy="118547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Pre-Flight Customer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49421"/>
            <a:ext cx="12006072" cy="138095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In-Flight Service Design &amp;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41745"/>
            <a:ext cx="12006072" cy="99630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Post-Flight Survey &amp; NPS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5885"/>
            <a:ext cx="12006072" cy="90802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Special Services Request (SSR)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48942"/>
            <a:ext cx="12006072" cy="78190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Customer Data &amp; Personalization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83623"/>
            <a:ext cx="12006072" cy="71254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IRROP Passenger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35918"/>
            <a:ext cx="12006072" cy="160795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Lounge &amp; Premium Experience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Experience Operations</a:t>
            </a:r>
          </a:p>
        </p:txBody>
      </p:sp>
      <p:pic>
        <p:nvPicPr>
          <p:cNvPr id="9" name="Picture 8" descr="cx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11999"/>
            <a:ext cx="12006072" cy="65579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Co-Brand Credit Card Partnership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Loyalty Programme Management</a:t>
            </a:r>
          </a:p>
        </p:txBody>
      </p:sp>
      <p:pic>
        <p:nvPicPr>
          <p:cNvPr id="9" name="Picture 8" descr="cx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77318"/>
            <a:ext cx="12006072" cy="72515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Loyalty Program Partnerships (Hotels/Cars/Retail)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Loyalty Programme Management</a:t>
            </a:r>
          </a:p>
        </p:txBody>
      </p:sp>
      <p:pic>
        <p:nvPicPr>
          <p:cNvPr id="9" name="Picture 8" descr="cx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44898"/>
            <a:ext cx="12006072" cy="98999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Customer Service Contact Centre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Service Contact Centre</a:t>
            </a:r>
          </a:p>
        </p:txBody>
      </p:sp>
      <p:pic>
        <p:nvPicPr>
          <p:cNvPr id="9" name="Picture 8" descr="cx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97605"/>
            <a:ext cx="12006072" cy="108458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CX-16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Digital Self-Service &amp; Chatbot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Customer Experience &amp; Loyalty  ›  Customer Service Contact Centre</a:t>
            </a:r>
          </a:p>
        </p:txBody>
      </p:sp>
      <p:pic>
        <p:nvPicPr>
          <p:cNvPr id="9" name="Picture 8" descr="cx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29133"/>
            <a:ext cx="12006072" cy="102152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Flight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15 subprocesses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Flight Dispatch &amp;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21458"/>
            <a:ext cx="12006072" cy="63687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Operational Flight Plan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24610"/>
            <a:ext cx="12006072" cy="630571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Fuel Planning &amp; Tankering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29133"/>
            <a:ext cx="12006072" cy="102152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Weight &amp; Balance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92191"/>
            <a:ext cx="12006072" cy="89541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NOTAMs &amp; AIP Information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61553"/>
            <a:ext cx="12006072" cy="75668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Weather Monitoring &amp; Decision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0025"/>
            <a:ext cx="12006072" cy="81974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Air Traffic Control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66968"/>
            <a:ext cx="12006072" cy="9458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Network Operations Control (NOC)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Network Operations Control</a:t>
            </a:r>
          </a:p>
        </p:txBody>
      </p:sp>
      <p:pic>
        <p:nvPicPr>
          <p:cNvPr id="9" name="Picture 8" descr="fo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36809"/>
            <a:ext cx="12006072" cy="140617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Delay Management &amp; Root Cause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Network Operations Control</a:t>
            </a:r>
          </a:p>
        </p:txBody>
      </p:sp>
      <p:pic>
        <p:nvPicPr>
          <p:cNvPr id="9" name="Picture 8" descr="fo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86776"/>
            <a:ext cx="12006072" cy="706239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Diversion &amp; Emergency Response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Network Operations Control</a:t>
            </a:r>
          </a:p>
        </p:txBody>
      </p:sp>
      <p:pic>
        <p:nvPicPr>
          <p:cNvPr id="9" name="Picture 8" descr="fo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9038"/>
            <a:ext cx="12006072" cy="90171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ETOPS / EDTO Operations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Network Operations Control</a:t>
            </a:r>
          </a:p>
        </p:txBody>
      </p:sp>
      <p:pic>
        <p:nvPicPr>
          <p:cNvPr id="9" name="Picture 8" descr="fo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9038"/>
            <a:ext cx="12006072" cy="90171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Flight Crew Briefing &amp; Pre-Departure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20154"/>
            <a:ext cx="12006072" cy="163948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Performance &amp; FDR Data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Network Operations Control</a:t>
            </a:r>
          </a:p>
        </p:txBody>
      </p:sp>
      <p:pic>
        <p:nvPicPr>
          <p:cNvPr id="9" name="Picture 8" descr="fo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6331"/>
            <a:ext cx="12006072" cy="80713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Air-to-Ground Communications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93082"/>
            <a:ext cx="12006072" cy="69362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FO-15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Dangerous Goods Load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Flight Operations  ›  Flight Dispatch &amp; Control</a:t>
            </a:r>
          </a:p>
        </p:txBody>
      </p:sp>
      <p:pic>
        <p:nvPicPr>
          <p:cNvPr id="9" name="Picture 8" descr="fo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30504"/>
            <a:ext cx="12006072" cy="141878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Crew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15 subprocesses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Pairing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Planning &amp; Rostering</a:t>
            </a:r>
          </a:p>
        </p:txBody>
      </p:sp>
      <p:pic>
        <p:nvPicPr>
          <p:cNvPr id="9" name="Picture 8" descr="c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3273"/>
            <a:ext cx="12006072" cy="93324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Rostering &amp; Bidding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Planning &amp; Rostering</a:t>
            </a:r>
          </a:p>
        </p:txBody>
      </p:sp>
      <p:pic>
        <p:nvPicPr>
          <p:cNvPr id="9" name="Picture 8" descr="cm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3273"/>
            <a:ext cx="12006072" cy="93324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Day-of-Operations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Day-of-Operations</a:t>
            </a:r>
          </a:p>
        </p:txBody>
      </p:sp>
      <p:pic>
        <p:nvPicPr>
          <p:cNvPr id="9" name="Picture 8" descr="cm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90408"/>
            <a:ext cx="12006072" cy="129897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Fatigue &amp; Rest Rule Compliance (FAR Part 117)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Compliance &amp; Certification</a:t>
            </a:r>
          </a:p>
        </p:txBody>
      </p:sp>
      <p:pic>
        <p:nvPicPr>
          <p:cNvPr id="9" name="Picture 8" descr="cm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70599"/>
            <a:ext cx="12006072" cy="1538593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Training &amp; Recurrency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Compliance &amp; Certification</a:t>
            </a:r>
          </a:p>
        </p:txBody>
      </p:sp>
      <p:pic>
        <p:nvPicPr>
          <p:cNvPr id="9" name="Picture 8" descr="cm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60662"/>
            <a:ext cx="12006072" cy="958467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Licensing &amp; Medical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Compliance &amp; Certification</a:t>
            </a:r>
          </a:p>
        </p:txBody>
      </p:sp>
      <p:pic>
        <p:nvPicPr>
          <p:cNvPr id="9" name="Picture 8" descr="cm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99866"/>
            <a:ext cx="12006072" cy="1280059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Reserve Crew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Day-of-Operations</a:t>
            </a:r>
          </a:p>
        </p:txBody>
      </p:sp>
      <p:pic>
        <p:nvPicPr>
          <p:cNvPr id="9" name="Picture 8" descr="cm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61141"/>
            <a:ext cx="12006072" cy="155751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Hotel &amp; Transportation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Day-of-Operations</a:t>
            </a:r>
          </a:p>
        </p:txBody>
      </p:sp>
      <p:pic>
        <p:nvPicPr>
          <p:cNvPr id="9" name="Picture 8" descr="cm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5885"/>
            <a:ext cx="12006072" cy="90802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Cabin Crew Service Standards &amp;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Planning &amp; Rostering</a:t>
            </a:r>
          </a:p>
        </p:txBody>
      </p:sp>
      <p:pic>
        <p:nvPicPr>
          <p:cNvPr id="9" name="Picture 8" descr="cm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77318"/>
            <a:ext cx="12006072" cy="725156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Disruption Recovery &amp; Re-pairing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Day-of-Operations</a:t>
            </a:r>
          </a:p>
        </p:txBody>
      </p:sp>
      <p:pic>
        <p:nvPicPr>
          <p:cNvPr id="9" name="Picture 8" descr="cm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76426"/>
            <a:ext cx="12006072" cy="926939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Union &amp; Labour Agreement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Compliance &amp; Certification</a:t>
            </a:r>
          </a:p>
        </p:txBody>
      </p:sp>
      <p:pic>
        <p:nvPicPr>
          <p:cNvPr id="9" name="Picture 8" descr="cm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11999"/>
            <a:ext cx="12006072" cy="655793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Recruitment &amp;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Planning &amp; Rostering</a:t>
            </a:r>
          </a:p>
        </p:txBody>
      </p:sp>
      <p:pic>
        <p:nvPicPr>
          <p:cNvPr id="9" name="Picture 8" descr="cm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876014"/>
            <a:ext cx="12006072" cy="172776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Deadhead &amp; Positioning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Day-of-Operations</a:t>
            </a:r>
          </a:p>
        </p:txBody>
      </p:sp>
      <p:pic>
        <p:nvPicPr>
          <p:cNvPr id="9" name="Picture 8" descr="cm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898084"/>
            <a:ext cx="12006072" cy="1683624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Performance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Planning &amp; Rostering</a:t>
            </a:r>
          </a:p>
        </p:txBody>
      </p:sp>
      <p:pic>
        <p:nvPicPr>
          <p:cNvPr id="9" name="Picture 8" descr="cm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02541"/>
            <a:ext cx="12006072" cy="67471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CM-15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Crew Payroll &amp; Hours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Crew Management  ›  Crew Planning &amp; Rostering</a:t>
            </a:r>
          </a:p>
        </p:txBody>
      </p:sp>
      <p:pic>
        <p:nvPicPr>
          <p:cNvPr id="9" name="Picture 8" descr="cm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74644"/>
            <a:ext cx="12006072" cy="1330504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Ground Operations &amp; Airport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15 subprocesses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Passenger Check-In &amp; 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02541"/>
            <a:ext cx="12006072" cy="67471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Baggage Acceptance &amp;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Baggage Operations</a:t>
            </a:r>
          </a:p>
        </p:txBody>
      </p:sp>
      <p:pic>
        <p:nvPicPr>
          <p:cNvPr id="9" name="Picture 8" descr="g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2732"/>
            <a:ext cx="12006072" cy="914327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Lost &amp; Found / Baggage Tracing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Baggage Operations</a:t>
            </a:r>
          </a:p>
        </p:txBody>
      </p:sp>
      <p:pic>
        <p:nvPicPr>
          <p:cNvPr id="9" name="Picture 8" descr="g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48529"/>
            <a:ext cx="12006072" cy="1582733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Gate Management &amp;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16522"/>
            <a:ext cx="12006072" cy="1046747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Ramp &amp; Turnaround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Ramp &amp; Turnaround Operations</a:t>
            </a:r>
          </a:p>
        </p:txBody>
      </p:sp>
      <p:pic>
        <p:nvPicPr>
          <p:cNvPr id="9" name="Picture 8" descr="go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52574"/>
            <a:ext cx="12006072" cy="1374644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Ground Handling Vendor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Ramp &amp; Turnaround Operations</a:t>
            </a:r>
          </a:p>
        </p:txBody>
      </p:sp>
      <p:pic>
        <p:nvPicPr>
          <p:cNvPr id="9" name="Picture 8" descr="go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88146"/>
            <a:ext cx="12006072" cy="1103499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Load Control &amp; Aircraft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Ramp &amp; Turnaround Operations</a:t>
            </a:r>
          </a:p>
        </p:txBody>
      </p:sp>
      <p:pic>
        <p:nvPicPr>
          <p:cNvPr id="9" name="Picture 8" descr="go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52095"/>
            <a:ext cx="12006072" cy="77560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Passenger Disruption Handling (IRROP)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03911"/>
            <a:ext cx="12006072" cy="107197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Wheelchair &amp; Special Assistance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503432"/>
            <a:ext cx="12006072" cy="47292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VIP &amp; Premium Passenger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9038"/>
            <a:ext cx="12006072" cy="901716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Cargo &amp; Mail Ground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Baggage Operations</a:t>
            </a:r>
          </a:p>
        </p:txBody>
      </p:sp>
      <p:pic>
        <p:nvPicPr>
          <p:cNvPr id="9" name="Picture 8" descr="go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61553"/>
            <a:ext cx="12006072" cy="756685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De-Icing &amp; Winter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Ramp &amp; Turnaround Operations</a:t>
            </a:r>
          </a:p>
        </p:txBody>
      </p:sp>
      <p:pic>
        <p:nvPicPr>
          <p:cNvPr id="9" name="Picture 8" descr="go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62924"/>
            <a:ext cx="12006072" cy="1153944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Airport Security Compliance (TSA/CBP)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41745"/>
            <a:ext cx="12006072" cy="99630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Ground Support Equipment (GSE)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Ramp &amp; Turnaround Operations</a:t>
            </a:r>
          </a:p>
        </p:txBody>
      </p:sp>
      <p:pic>
        <p:nvPicPr>
          <p:cNvPr id="9" name="Picture 8" descr="g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60662"/>
            <a:ext cx="12006072" cy="958467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Station Performance &amp; KPI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Ground Operations &amp; Airport Services  ›  Airport &amp; Gate Management</a:t>
            </a:r>
          </a:p>
        </p:txBody>
      </p:sp>
      <p:pic>
        <p:nvPicPr>
          <p:cNvPr id="9" name="Picture 8" descr="go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71012"/>
            <a:ext cx="12006072" cy="737768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Maintenance, Repair &amp; Overhaul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15 subprocesses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Line Maintenance Planning &amp;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Line Maintenance</a:t>
            </a:r>
          </a:p>
        </p:txBody>
      </p:sp>
      <p:pic>
        <p:nvPicPr>
          <p:cNvPr id="9" name="Picture 8" descr="m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03911"/>
            <a:ext cx="12006072" cy="107197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Heavy Maintenance (C/D Check)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Heavy Maintenance</a:t>
            </a:r>
          </a:p>
        </p:txBody>
      </p:sp>
      <p:pic>
        <p:nvPicPr>
          <p:cNvPr id="9" name="Picture 8" descr="mr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52095"/>
            <a:ext cx="12006072" cy="775602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Engine Shop Maintenance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Engine &amp; Component Shop</a:t>
            </a:r>
          </a:p>
        </p:txBody>
      </p:sp>
      <p:pic>
        <p:nvPicPr>
          <p:cNvPr id="9" name="Picture 8" descr="mr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6331"/>
            <a:ext cx="12006072" cy="80713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Component &amp; Parts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Engine &amp; Component Shop</a:t>
            </a:r>
          </a:p>
        </p:txBody>
      </p:sp>
      <p:pic>
        <p:nvPicPr>
          <p:cNvPr id="9" name="Picture 8" descr="mr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57509"/>
            <a:ext cx="12006072" cy="964773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Airworthiness Directive (AD)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Airworthiness &amp; Compliance</a:t>
            </a:r>
          </a:p>
        </p:txBody>
      </p:sp>
      <p:pic>
        <p:nvPicPr>
          <p:cNvPr id="9" name="Picture 8" descr="mr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99388"/>
            <a:ext cx="12006072" cy="68101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Maintenance Reliability &amp; RCM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Airworthiness &amp; Compliance</a:t>
            </a:r>
          </a:p>
        </p:txBody>
      </p:sp>
      <p:pic>
        <p:nvPicPr>
          <p:cNvPr id="9" name="Picture 8" descr="mr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0025"/>
            <a:ext cx="12006072" cy="819742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Aircraft Technical Records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Airworthiness &amp; Compliance</a:t>
            </a:r>
          </a:p>
        </p:txBody>
      </p:sp>
      <p:pic>
        <p:nvPicPr>
          <p:cNvPr id="9" name="Picture 8" descr="mr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11108"/>
            <a:ext cx="12006072" cy="85757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AOG Recovery &amp; Technical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Line Maintenance</a:t>
            </a:r>
          </a:p>
        </p:txBody>
      </p:sp>
      <p:pic>
        <p:nvPicPr>
          <p:cNvPr id="9" name="Picture 8" descr="mr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10695"/>
            <a:ext cx="12006072" cy="1658401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MRO Vendor &amp; Outsourcing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MRO Vendor Management</a:t>
            </a:r>
          </a:p>
        </p:txBody>
      </p:sp>
      <p:pic>
        <p:nvPicPr>
          <p:cNvPr id="9" name="Picture 8" descr="mr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017892"/>
            <a:ext cx="12006072" cy="1444007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Spare Parts Inventory &amp; 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MRO Vendor Management</a:t>
            </a:r>
          </a:p>
        </p:txBody>
      </p:sp>
      <p:pic>
        <p:nvPicPr>
          <p:cNvPr id="9" name="Picture 8" descr="mr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9038"/>
            <a:ext cx="12006072" cy="901716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Structural Repair &amp; NDT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Heavy Maintenance</a:t>
            </a:r>
          </a:p>
        </p:txBody>
      </p:sp>
      <p:pic>
        <p:nvPicPr>
          <p:cNvPr id="9" name="Picture 8" descr="mr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655314"/>
            <a:ext cx="12006072" cy="2169164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Avionics &amp; Systems Modification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Airworthiness &amp; Compliance</a:t>
            </a:r>
          </a:p>
        </p:txBody>
      </p:sp>
      <p:pic>
        <p:nvPicPr>
          <p:cNvPr id="9" name="Picture 8" descr="mr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80471"/>
            <a:ext cx="12006072" cy="71885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Quality Assurance &amp; Safety Audits (CAMO)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Airworthiness &amp; Compliance</a:t>
            </a:r>
          </a:p>
        </p:txBody>
      </p:sp>
      <p:pic>
        <p:nvPicPr>
          <p:cNvPr id="9" name="Picture 8" descr="mr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84515"/>
            <a:ext cx="12006072" cy="510762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Maintenance Cost Control &amp; KPI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MRO Vendor Management</a:t>
            </a:r>
          </a:p>
        </p:txBody>
      </p:sp>
      <p:pic>
        <p:nvPicPr>
          <p:cNvPr id="9" name="Picture 8" descr="mr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69229"/>
            <a:ext cx="12006072" cy="1141333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MR-15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Warranty Claim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Maintenance, Repair &amp; Overhaul  ›  MRO Vendor Management</a:t>
            </a:r>
          </a:p>
        </p:txBody>
      </p:sp>
      <p:pic>
        <p:nvPicPr>
          <p:cNvPr id="9" name="Picture 8" descr="mr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23719"/>
            <a:ext cx="12006072" cy="832353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</a:rPr>
              <a:t>L1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Corporate Support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15 subprocesses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Financial Planning &amp; Budgeting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Finance &amp; Accounting</a:t>
            </a:r>
          </a:p>
        </p:txBody>
      </p:sp>
      <p:pic>
        <p:nvPicPr>
          <p:cNvPr id="9" name="Picture 8" descr="c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28242"/>
            <a:ext cx="12006072" cy="1223307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Management Accounting &amp; Cost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Finance &amp; Accounting</a:t>
            </a:r>
          </a:p>
        </p:txBody>
      </p:sp>
      <p:pic>
        <p:nvPicPr>
          <p:cNvPr id="9" name="Picture 8" descr="c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05693"/>
            <a:ext cx="12006072" cy="668405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Revenue Accounting &amp; BSP Settlement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Finance &amp; Accounting</a:t>
            </a:r>
          </a:p>
        </p:txBody>
      </p:sp>
      <p:pic>
        <p:nvPicPr>
          <p:cNvPr id="9" name="Picture 8" descr="c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59771"/>
            <a:ext cx="12006072" cy="116025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Workforce Planning &amp; Headcount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Human Resources</a:t>
            </a:r>
          </a:p>
        </p:txBody>
      </p:sp>
      <p:pic>
        <p:nvPicPr>
          <p:cNvPr id="9" name="Picture 8" descr="c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30025"/>
            <a:ext cx="12006072" cy="819742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Talent Acquisition &amp; Recruitment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Human Resources</a:t>
            </a:r>
          </a:p>
        </p:txBody>
      </p:sp>
      <p:pic>
        <p:nvPicPr>
          <p:cNvPr id="9" name="Picture 8" descr="c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75056"/>
            <a:ext cx="12006072" cy="529679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Learning &amp; Development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Human Resources</a:t>
            </a:r>
          </a:p>
        </p:txBody>
      </p:sp>
      <p:pic>
        <p:nvPicPr>
          <p:cNvPr id="9" name="Picture 8" descr="c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891778"/>
            <a:ext cx="12006072" cy="1696236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Labour Relations &amp; Union Negotiation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Human Resources</a:t>
            </a:r>
          </a:p>
        </p:txBody>
      </p:sp>
      <p:pic>
        <p:nvPicPr>
          <p:cNvPr id="9" name="Picture 8" descr="c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74165"/>
            <a:ext cx="12006072" cy="731462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PSS (Passenger Service System)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Information Technology</a:t>
            </a:r>
          </a:p>
        </p:txBody>
      </p:sp>
      <p:pic>
        <p:nvPicPr>
          <p:cNvPr id="9" name="Picture 8" descr="c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96235"/>
            <a:ext cx="12006072" cy="687322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Cybersecurity &amp; Threat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Information Technology</a:t>
            </a:r>
          </a:p>
        </p:txBody>
      </p:sp>
      <p:pic>
        <p:nvPicPr>
          <p:cNvPr id="9" name="Picture 8" descr="c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48942"/>
            <a:ext cx="12006072" cy="781908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Data Engineering &amp; 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Information Technology</a:t>
            </a:r>
          </a:p>
        </p:txBody>
      </p:sp>
      <p:pic>
        <p:nvPicPr>
          <p:cNvPr id="9" name="Picture 8" descr="c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85885"/>
            <a:ext cx="12006072" cy="90802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Strategic Sourcing &amp; Vendor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Procurement &amp; Supply Chain</a:t>
            </a:r>
          </a:p>
        </p:txBody>
      </p:sp>
      <p:pic>
        <p:nvPicPr>
          <p:cNvPr id="9" name="Picture 8" descr="c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402541"/>
            <a:ext cx="12006072" cy="67471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Fuel Procurement &amp;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Procurement &amp; Supply Chain</a:t>
            </a:r>
          </a:p>
        </p:txBody>
      </p:sp>
      <p:pic>
        <p:nvPicPr>
          <p:cNvPr id="9" name="Picture 8" descr="c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106172"/>
            <a:ext cx="12006072" cy="1267447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Aircraft Parts &amp; Consumables 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Procurement &amp; Supply Chain</a:t>
            </a:r>
          </a:p>
        </p:txBody>
      </p:sp>
      <p:pic>
        <p:nvPicPr>
          <p:cNvPr id="9" name="Picture 8" descr="c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248051"/>
            <a:ext cx="12006072" cy="98369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Safety Management System (SMS)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Safety &amp; Regulatory</a:t>
            </a:r>
          </a:p>
        </p:txBody>
      </p:sp>
      <p:pic>
        <p:nvPicPr>
          <p:cNvPr id="9" name="Picture 8" descr="c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756205"/>
            <a:ext cx="12006072" cy="1967381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0972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CS-15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73152"/>
            <a:ext cx="8686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Regulatory Compliance &amp; AOC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DD8E6"/>
                </a:solidFill>
              </a:rPr>
              <a:t>Corporate Support Functions  ›  Safety &amp; Regulatory</a:t>
            </a:r>
          </a:p>
        </p:txBody>
      </p:sp>
      <p:pic>
        <p:nvPicPr>
          <p:cNvPr id="9" name="Picture 8" descr="c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26872"/>
            <a:ext cx="12006072" cy="826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